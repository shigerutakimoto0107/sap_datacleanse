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Noto Sans JP" panose="020B0200000000000000" pitchFamily="50" charset="-128"/>
      <p:regular r:id="rId9"/>
      <p:bold r:id="rId10"/>
    </p:embeddedFont>
    <p:embeddedFont>
      <p:font typeface="游ゴシック" panose="020B0400000000000000" pitchFamily="50" charset="-128"/>
      <p:regular r:id="rId11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39766" autoAdjust="0"/>
  </p:normalViewPr>
  <p:slideViewPr>
    <p:cSldViewPr snapToGrid="0" snapToObjects="1">
      <p:cViewPr varScale="1">
        <p:scale>
          <a:sx n="27" d="100"/>
          <a:sy n="27" d="100"/>
        </p:scale>
        <p:origin x="238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9051F4-D3FF-473F-B50C-A2FA41B49E5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CB4E3C-07B0-408E-97CF-EF6563245A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4256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============================================================</a:t>
            </a:r>
          </a:p>
          <a:p>
            <a:r>
              <a:rPr lang="ja-JP" altLang="en-US" dirty="0"/>
              <a:t>スライド</a:t>
            </a:r>
            <a:r>
              <a:rPr lang="en-US" altLang="ja-JP" dirty="0"/>
              <a:t>5</a:t>
            </a:r>
            <a:r>
              <a:rPr lang="ja-JP" altLang="en-US" dirty="0"/>
              <a:t>：ノート用テキスト（最終版）</a:t>
            </a:r>
          </a:p>
          <a:p>
            <a:r>
              <a:rPr lang="en-US" altLang="ja-JP" dirty="0"/>
              <a:t>============================================================</a:t>
            </a:r>
          </a:p>
          <a:p>
            <a:endParaRPr lang="en-US" altLang="ja-JP" dirty="0"/>
          </a:p>
          <a:p>
            <a:r>
              <a:rPr lang="en-US" altLang="ja-JP" dirty="0"/>
              <a:t>1. </a:t>
            </a:r>
            <a:r>
              <a:rPr lang="ja-JP" altLang="en-US" dirty="0"/>
              <a:t>帳簿上のマジック（偽りの最適化）</a:t>
            </a:r>
          </a:p>
          <a:p>
            <a:r>
              <a:rPr lang="ja-JP" altLang="en-US" dirty="0"/>
              <a:t>   </a:t>
            </a:r>
            <a:r>
              <a:rPr lang="en-US" altLang="ja-JP" dirty="0"/>
              <a:t>- LT</a:t>
            </a:r>
            <a:r>
              <a:rPr lang="ja-JP" altLang="en-US" dirty="0"/>
              <a:t>（調達日数）や</a:t>
            </a:r>
            <a:r>
              <a:rPr lang="en-US" altLang="ja-JP" dirty="0"/>
              <a:t>MOQ</a:t>
            </a:r>
            <a:r>
              <a:rPr lang="ja-JP" altLang="en-US" dirty="0"/>
              <a:t>（発注ロット）を大きく設定すると、システム上の適正ラインが引き上げられる。</a:t>
            </a:r>
          </a:p>
          <a:p>
            <a:r>
              <a:rPr lang="ja-JP" altLang="en-US" dirty="0"/>
              <a:t>   </a:t>
            </a:r>
            <a:r>
              <a:rPr lang="en-US" altLang="ja-JP" dirty="0"/>
              <a:t>- </a:t>
            </a:r>
            <a:r>
              <a:rPr lang="ja-JP" altLang="en-US" dirty="0"/>
              <a:t>その結果、現物の在庫数が同じであっても「帳簿上の余剰在庫が減った（良く見せる）」ように錯覚してしまう。</a:t>
            </a:r>
          </a:p>
          <a:p>
            <a:endParaRPr lang="ja-JP" altLang="en-US" dirty="0"/>
          </a:p>
          <a:p>
            <a:r>
              <a:rPr lang="en-US" altLang="ja-JP" dirty="0"/>
              <a:t>2. </a:t>
            </a:r>
            <a:r>
              <a:rPr lang="ja-JP" altLang="en-US" dirty="0"/>
              <a:t>パターン</a:t>
            </a:r>
            <a:r>
              <a:rPr lang="en-US" altLang="ja-JP" dirty="0"/>
              <a:t>A</a:t>
            </a:r>
            <a:r>
              <a:rPr lang="ja-JP" altLang="en-US" dirty="0"/>
              <a:t>（極端な小ロット・短納期）の限界と昭和的発想</a:t>
            </a:r>
          </a:p>
          <a:p>
            <a:r>
              <a:rPr lang="ja-JP" altLang="en-US" dirty="0"/>
              <a:t>   </a:t>
            </a:r>
            <a:r>
              <a:rPr lang="en-US" altLang="ja-JP" dirty="0"/>
              <a:t>- </a:t>
            </a:r>
            <a:r>
              <a:rPr lang="ja-JP" altLang="en-US" dirty="0"/>
              <a:t>自社のキャッシュ効率や在庫削減だけを目的に、無理な小ロットや短納期（パターン</a:t>
            </a:r>
            <a:r>
              <a:rPr lang="en-US" altLang="ja-JP" dirty="0"/>
              <a:t>A</a:t>
            </a:r>
            <a:r>
              <a:rPr lang="ja-JP" altLang="en-US" dirty="0"/>
              <a:t>）をサプライヤへ一方的に押し付けるのは、サプライヤに過剰な負担を強いる昭和的な利益追求の側面がある。</a:t>
            </a:r>
          </a:p>
          <a:p>
            <a:endParaRPr lang="ja-JP" altLang="en-US" dirty="0"/>
          </a:p>
          <a:p>
            <a:r>
              <a:rPr lang="en-US" altLang="ja-JP" dirty="0"/>
              <a:t>3. </a:t>
            </a:r>
            <a:r>
              <a:rPr lang="ja-JP" altLang="en-US" dirty="0"/>
              <a:t>令和的・公正取引的アプローチ（真のバランス点）</a:t>
            </a:r>
          </a:p>
          <a:p>
            <a:r>
              <a:rPr lang="ja-JP" altLang="en-US" dirty="0"/>
              <a:t>   </a:t>
            </a:r>
            <a:r>
              <a:rPr lang="en-US" altLang="ja-JP" dirty="0"/>
              <a:t>- </a:t>
            </a:r>
            <a:r>
              <a:rPr lang="ja-JP" altLang="en-US" dirty="0"/>
              <a:t>公正取引の観点や社会的信用を踏まえれば、自社都合の極端な数値（パターン</a:t>
            </a:r>
            <a:r>
              <a:rPr lang="en-US" altLang="ja-JP" dirty="0"/>
              <a:t>A</a:t>
            </a:r>
            <a:r>
              <a:rPr lang="ja-JP" altLang="en-US" dirty="0"/>
              <a:t>）や、帳簿をごまかすような設定（パターン</a:t>
            </a:r>
            <a:r>
              <a:rPr lang="en-US" altLang="ja-JP" dirty="0"/>
              <a:t>B</a:t>
            </a:r>
            <a:r>
              <a:rPr lang="ja-JP" altLang="en-US" dirty="0"/>
              <a:t>）のどちらに偏ることも適切ではない。</a:t>
            </a:r>
          </a:p>
          <a:p>
            <a:r>
              <a:rPr lang="ja-JP" altLang="en-US" dirty="0"/>
              <a:t>   </a:t>
            </a:r>
            <a:r>
              <a:rPr lang="en-US" altLang="ja-JP" dirty="0"/>
              <a:t>- </a:t>
            </a:r>
            <a:r>
              <a:rPr lang="ja-JP" altLang="en-US"/>
              <a:t>サプライチェーン全体を見据えたサプライヤとの対話と公正な交渉を通じて、双方にとって最も持続可能で無理のない「最適なバランス点」を導き出すことが不可欠である。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B4E3C-07B0-408E-97CF-EF6563245A6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3123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6750" y="4580483"/>
            <a:ext cx="571500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50" y="2239416"/>
            <a:ext cx="10953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8BDF8"/>
                </a:solidFill>
                <a:latin typeface="Noto Sans JP"/>
              </a:rPr>
              <a:t>調達部門向け・在庫評価の仕組み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2620416"/>
            <a:ext cx="11501437" cy="1188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sz="3900" b="1" i="0" u="none">
                <a:solidFill>
                  <a:srgbClr val="FFFFFF"/>
                </a:solidFill>
                <a:latin typeface="Noto Sans JP"/>
              </a:rPr>
              <a:t>余剰在庫金額の計算メカニズムと</a:t>
            </a:r>
            <a:r>
              <a:t>
</a:t>
            </a:r>
            <a:r>
              <a:rPr sz="3900" b="1" i="0" u="none">
                <a:solidFill>
                  <a:srgbClr val="FFFFFF"/>
                </a:solidFill>
                <a:latin typeface="Noto Sans JP"/>
              </a:rPr>
              <a:t> 適正ライン変動のカラクリ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3999458"/>
            <a:ext cx="8334375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94A3B8"/>
                </a:solidFill>
                <a:latin typeface="Noto Sans JP"/>
              </a:rPr>
              <a:t>在庫数が同じでも、LTやMOQの変動で「帳簿上の金額」に差が出る理由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6750" y="3167062"/>
            <a:ext cx="3194893" cy="1666875"/>
          </a:xfrm>
          <a:prstGeom prst="roundRect">
            <a:avLst>
              <a:gd name="adj" fmla="val 68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26309" y="3167062"/>
            <a:ext cx="3194893" cy="1666875"/>
          </a:xfrm>
          <a:prstGeom prst="roundRect">
            <a:avLst>
              <a:gd name="adj" fmla="val 68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330505" y="3167062"/>
            <a:ext cx="3194893" cy="1666875"/>
          </a:xfrm>
          <a:prstGeom prst="roundRect">
            <a:avLst>
              <a:gd name="adj" fmla="val 6857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243" y="3867150"/>
            <a:ext cx="207466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803" y="3867150"/>
            <a:ext cx="152102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5655" y="3500437"/>
            <a:ext cx="237083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5214" y="3500437"/>
            <a:ext cx="237083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9410" y="3500437"/>
            <a:ext cx="237083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6750" y="476250"/>
            <a:ext cx="11525250" cy="4191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Noto Sans JP"/>
              </a:rPr>
              <a:t>そもそも「余剰在庫」とは何か？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" y="1009650"/>
            <a:ext cx="115252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Noto Sans JP"/>
              </a:rPr>
              <a:t>現在庫が「持つべき適正な量」を超過している分を指します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099" y="3986212"/>
            <a:ext cx="3368194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E293B"/>
                </a:solidFill>
                <a:latin typeface="Noto Sans JP"/>
              </a:rPr>
              <a:t>現在庫数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294" y="4319587"/>
            <a:ext cx="320780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475569"/>
                </a:solidFill>
                <a:latin typeface="Noto Sans JP"/>
              </a:rPr>
              <a:t>今、倉庫にある実際の数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9659" y="3986212"/>
            <a:ext cx="3368194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E293B"/>
                </a:solidFill>
                <a:latin typeface="Noto Sans JP"/>
              </a:rPr>
              <a:t>適正在庫数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9854" y="4319587"/>
            <a:ext cx="320780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475569"/>
                </a:solidFill>
                <a:latin typeface="Noto Sans JP"/>
              </a:rPr>
              <a:t>持っていなければならない基準値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854" y="3986212"/>
            <a:ext cx="3368194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991B1B"/>
                </a:solidFill>
                <a:latin typeface="Noto Sans JP"/>
              </a:rPr>
              <a:t>余剰在庫（数・金額）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050" y="4319587"/>
            <a:ext cx="320780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B91C1C"/>
                </a:solidFill>
                <a:latin typeface="Noto Sans JP"/>
              </a:rPr>
              <a:t>超過分 × 単価 ＝ </a:t>
            </a:r>
            <a:r>
              <a:rPr sz="1200" b="1" i="0" u="none">
                <a:solidFill>
                  <a:srgbClr val="B91C1C"/>
                </a:solidFill>
                <a:latin typeface="Noto Sans JP"/>
              </a:rPr>
              <a:t>余剰金額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6750" y="2481262"/>
            <a:ext cx="10858500" cy="885825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50" y="3557587"/>
            <a:ext cx="10858500" cy="885825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6750" y="4633912"/>
            <a:ext cx="10858500" cy="885825"/>
          </a:xfrm>
          <a:prstGeom prst="roundRect">
            <a:avLst>
              <a:gd name="adj" fmla="val 12903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4875" y="2733675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04875" y="38100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04875" y="4886325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6750" y="476250"/>
            <a:ext cx="1152525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Noto Sans JP"/>
              </a:rPr>
              <a:t>余剰在庫金額の計算ステップ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028700"/>
            <a:ext cx="1152525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Noto Sans JP"/>
              </a:rPr>
              <a:t>システム内部で行われている一連の流れ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73367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810000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88632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6375" y="2681287"/>
            <a:ext cx="5300662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Noto Sans JP"/>
              </a:rPr>
              <a:t>適正在庫ラインの算出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6375" y="2967037"/>
            <a:ext cx="5048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Noto Sans JP"/>
              </a:rPr>
              <a:t>（平均需要量 × LT）＋ 安全在庫 ＋ MOQの制約を考慮して決定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6375" y="3757612"/>
            <a:ext cx="465058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Noto Sans JP"/>
              </a:rPr>
              <a:t>超過数量の抽出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6375" y="4043362"/>
            <a:ext cx="44291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Noto Sans JP"/>
              </a:rPr>
              <a:t>現在庫数 － 適正在庫数 ＝ 超過している数量（余剰数）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375" y="4833937"/>
            <a:ext cx="3337917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91B1B"/>
                </a:solidFill>
                <a:latin typeface="Noto Sans JP"/>
              </a:rPr>
              <a:t>余剰在庫金額の確定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6375" y="5119687"/>
            <a:ext cx="317896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B91C1C"/>
                </a:solidFill>
                <a:latin typeface="Noto Sans JP"/>
              </a:rPr>
              <a:t>余剰在庫数 × 単価 ＝ </a:t>
            </a:r>
            <a:r>
              <a:rPr sz="1125" b="1" i="0" u="none">
                <a:solidFill>
                  <a:srgbClr val="B91C1C"/>
                </a:solidFill>
                <a:latin typeface="Noto Sans JP"/>
              </a:rPr>
              <a:t>帳簿上の余剰金額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6750" y="2881312"/>
            <a:ext cx="5314950" cy="2200275"/>
          </a:xfrm>
          <a:prstGeom prst="roundRect">
            <a:avLst>
              <a:gd name="adj" fmla="val 519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2881312"/>
            <a:ext cx="5314950" cy="2200275"/>
          </a:xfrm>
          <a:prstGeom prst="roundRect">
            <a:avLst>
              <a:gd name="adj" fmla="val 519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42975" y="4271962"/>
            <a:ext cx="4762500" cy="533400"/>
          </a:xfrm>
          <a:prstGeom prst="roundRect">
            <a:avLst>
              <a:gd name="adj" fmla="val 10714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86525" y="4271962"/>
            <a:ext cx="4762500" cy="533400"/>
          </a:xfrm>
          <a:prstGeom prst="roundRect">
            <a:avLst>
              <a:gd name="adj" fmla="val 10714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3224212"/>
            <a:ext cx="22860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3224212"/>
            <a:ext cx="22860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" y="476250"/>
            <a:ext cx="1152525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Noto Sans JP"/>
              </a:rPr>
              <a:t>深掘り：LTとMOQが果たす役割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028700"/>
            <a:ext cx="1152525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Noto Sans JP"/>
              </a:rPr>
              <a:t>これらは直接金額を計算するのではなく、「適正ライン」を引き上げるパラメータです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3605212"/>
            <a:ext cx="6250781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Noto Sans JP"/>
              </a:rPr>
              <a:t>LT（リードタイム）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975" y="3957637"/>
            <a:ext cx="59531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Noto Sans JP"/>
              </a:rPr>
              <a:t>発注から納品までの日数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5" y="4348162"/>
            <a:ext cx="47053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Noto Sans JP"/>
              </a:rPr>
              <a:t>LTが延びると…</a:t>
            </a:r>
            <a:r>
              <a:t>
</a:t>
            </a:r>
            <a:r>
              <a:rPr sz="1050" b="0" i="0" u="none">
                <a:solidFill>
                  <a:srgbClr val="0284C7"/>
                </a:solidFill>
                <a:latin typeface="Noto Sans JP"/>
              </a:rPr>
              <a:t> 納品待ちの間に消費される数量が増えるため、適正ラインが上昇する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6525" y="3605212"/>
            <a:ext cx="5705475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Noto Sans JP"/>
              </a:rPr>
              <a:t>MOQ（最小発注数量）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525" y="3957637"/>
            <a:ext cx="57054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Noto Sans JP"/>
              </a:rPr>
              <a:t>最低限発注しなければならない単位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2725" y="4348162"/>
            <a:ext cx="47053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Noto Sans JP"/>
              </a:rPr>
              <a:t>MOQが大きいと…</a:t>
            </a:r>
            <a:r>
              <a:t>
</a:t>
            </a:r>
            <a:r>
              <a:rPr sz="1050" b="0" i="0" u="none">
                <a:solidFill>
                  <a:srgbClr val="0284C7"/>
                </a:solidFill>
                <a:latin typeface="Noto Sans JP"/>
              </a:rPr>
              <a:t> まとまったロットで買う必要があるため、適正ラインの下限を押し上げる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6750" y="2974627"/>
            <a:ext cx="5200650" cy="1613445"/>
          </a:xfrm>
          <a:prstGeom prst="roundRect">
            <a:avLst>
              <a:gd name="adj" fmla="val 708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324600" y="2974627"/>
            <a:ext cx="5200650" cy="1613445"/>
          </a:xfrm>
          <a:prstGeom prst="roundRect">
            <a:avLst>
              <a:gd name="adj" fmla="val 708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47725" y="3930848"/>
            <a:ext cx="4838700" cy="47625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05575" y="3930848"/>
            <a:ext cx="4838700" cy="47625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3714750"/>
            <a:ext cx="152400" cy="171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6750" y="476250"/>
            <a:ext cx="11525250" cy="3524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0F172A"/>
                </a:solidFill>
                <a:latin typeface="Noto Sans JP"/>
              </a:rPr>
              <a:t>シミュレーション：在庫数が同じでも金額が変わる理由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866775"/>
            <a:ext cx="1152525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Noto Sans JP"/>
              </a:rPr>
              <a:t>【共通前提】1日需要: 10個 ／ 安全在庫: 20個 ／ 現在庫数: 100個 ／ 単価: 1,000円 ｜ 【計算式】適正ライン = max( (需要×LT) + 安全在庫, MOQ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3155602"/>
            <a:ext cx="6048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Noto Sans JP"/>
              </a:rPr>
              <a:t>【パターンA】LTが短く、小ロット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374677"/>
            <a:ext cx="493395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>
                <a:solidFill>
                  <a:srgbClr val="1E293B"/>
                </a:solidFill>
                <a:latin typeface="Noto Sans JP"/>
              </a:rPr>
              <a:t>• </a:t>
            </a:r>
            <a:r>
              <a:rPr sz="900" b="1" i="0" u="none">
                <a:solidFill>
                  <a:srgbClr val="1E293B"/>
                </a:solidFill>
                <a:latin typeface="Noto Sans JP"/>
              </a:rPr>
              <a:t>LT: 3日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 / </a:t>
            </a:r>
            <a:r>
              <a:rPr sz="900" b="1" i="0" u="none">
                <a:solidFill>
                  <a:srgbClr val="1E293B"/>
                </a:solidFill>
                <a:latin typeface="Noto Sans JP"/>
              </a:rPr>
              <a:t>MOQ: 10個</a:t>
            </a:r>
            <a:r>
              <a:t>
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 • </a:t>
            </a:r>
            <a:r>
              <a:rPr sz="900" b="1" i="0" u="none">
                <a:solidFill>
                  <a:srgbClr val="1E293B"/>
                </a:solidFill>
                <a:latin typeface="Noto Sans JP"/>
              </a:rPr>
              <a:t>適正計算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：max( (10×3)+20, 10 ) ＝ </a:t>
            </a:r>
            <a:r>
              <a:rPr sz="900" b="1" i="0" u="none">
                <a:solidFill>
                  <a:srgbClr val="0284C7"/>
                </a:solidFill>
                <a:latin typeface="Noto Sans JP"/>
              </a:rPr>
              <a:t>50個</a:t>
            </a:r>
            <a:r>
              <a:t>
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 • 現在庫：100個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925" y="4007048"/>
            <a:ext cx="47815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91B1B"/>
                </a:solidFill>
                <a:latin typeface="Noto Sans JP"/>
              </a:rPr>
              <a:t>余剰数：100 - 50 ＝ 50個</a:t>
            </a:r>
            <a:r>
              <a:t>
</a:t>
            </a:r>
            <a:r>
              <a:rPr sz="900" b="1" i="0" u="none">
                <a:solidFill>
                  <a:srgbClr val="991B1B"/>
                </a:solidFill>
                <a:latin typeface="Noto Sans JP"/>
              </a:rPr>
              <a:t>余剰金額：50,000円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5575" y="3155602"/>
            <a:ext cx="568642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6A34A"/>
                </a:solidFill>
                <a:latin typeface="Noto Sans JP"/>
              </a:rPr>
              <a:t>【パターンB】LTが長く、大ロット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5575" y="3374677"/>
            <a:ext cx="493395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>
                <a:solidFill>
                  <a:srgbClr val="1E293B"/>
                </a:solidFill>
                <a:latin typeface="Noto Sans JP"/>
              </a:rPr>
              <a:t>• </a:t>
            </a:r>
            <a:r>
              <a:rPr sz="900" b="1" i="0" u="none">
                <a:solidFill>
                  <a:srgbClr val="1E293B"/>
                </a:solidFill>
                <a:latin typeface="Noto Sans JP"/>
              </a:rPr>
              <a:t>LT: 7日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 / </a:t>
            </a:r>
            <a:r>
              <a:rPr sz="900" b="1" i="0" u="none">
                <a:solidFill>
                  <a:srgbClr val="1E293B"/>
                </a:solidFill>
                <a:latin typeface="Noto Sans JP"/>
              </a:rPr>
              <a:t>MOQ: 60個</a:t>
            </a:r>
            <a:r>
              <a:t>
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 • </a:t>
            </a:r>
            <a:r>
              <a:rPr sz="900" b="1" i="0" u="none">
                <a:solidFill>
                  <a:srgbClr val="1E293B"/>
                </a:solidFill>
                <a:latin typeface="Noto Sans JP"/>
              </a:rPr>
              <a:t>適正計算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：max( (10×7)+20, 60 ) ＝ </a:t>
            </a:r>
            <a:r>
              <a:rPr sz="900" b="1" i="0" u="none">
                <a:solidFill>
                  <a:srgbClr val="16A34A"/>
                </a:solidFill>
                <a:latin typeface="Noto Sans JP"/>
              </a:rPr>
              <a:t>90個</a:t>
            </a:r>
            <a:r>
              <a:t>
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 • 現在庫：100個（</a:t>
            </a:r>
            <a:r>
              <a:rPr sz="900" b="1" i="0" u="none">
                <a:solidFill>
                  <a:srgbClr val="1E293B"/>
                </a:solidFill>
                <a:latin typeface="Noto Sans JP"/>
              </a:rPr>
              <a:t>在庫数は同じ！</a:t>
            </a:r>
            <a:r>
              <a:rPr sz="900" b="0" i="0" u="none">
                <a:solidFill>
                  <a:srgbClr val="1E293B"/>
                </a:solidFill>
                <a:latin typeface="Noto Sans JP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1775" y="4007048"/>
            <a:ext cx="47815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166534"/>
                </a:solidFill>
                <a:latin typeface="Noto Sans JP"/>
              </a:rPr>
              <a:t>余剰数：100 - 90 ＝ 10個</a:t>
            </a:r>
            <a:r>
              <a:t>
</a:t>
            </a:r>
            <a:r>
              <a:rPr sz="900" b="1" i="0" u="none">
                <a:solidFill>
                  <a:srgbClr val="166534"/>
                </a:solidFill>
                <a:latin typeface="Noto Sans JP"/>
              </a:rPr>
              <a:t>余剰金額：10,000円（金額が激減！）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0" y="2090737"/>
            <a:ext cx="355699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0911" y="2767012"/>
            <a:ext cx="1410176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0F172A"/>
                </a:solidFill>
                <a:latin typeface="Noto Sans JP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47875" y="3386137"/>
            <a:ext cx="80962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475569"/>
                </a:solidFill>
                <a:latin typeface="Noto Sans JP"/>
              </a:rPr>
              <a:t>倉庫にある実物の在庫数が同じ（100個）であっても、</a:t>
            </a:r>
            <a:r>
              <a:t>
</a:t>
            </a:r>
            <a:r>
              <a:rPr sz="1500" b="1" i="0" u="none">
                <a:solidFill>
                  <a:srgbClr val="475569"/>
                </a:solidFill>
                <a:latin typeface="Noto Sans JP"/>
              </a:rPr>
              <a:t>LTやMOQが変わることで「適正ライン」が変動し、</a:t>
            </a:r>
            <a:r>
              <a:t>
</a:t>
            </a:r>
            <a:r>
              <a:rPr sz="1500" b="1" i="0" u="none">
                <a:solidFill>
                  <a:srgbClr val="475569"/>
                </a:solidFill>
                <a:latin typeface="Noto Sans JP"/>
              </a:rPr>
              <a:t> 結果として帳簿上の余剰在庫金額に大きな差が出る</a:t>
            </a:r>
            <a:r>
              <a:rPr sz="1500" b="0" i="0" u="none">
                <a:solidFill>
                  <a:srgbClr val="475569"/>
                </a:solidFill>
                <a:latin typeface="Noto Sans JP"/>
              </a:rPr>
              <a:t>仕組みになっています。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2500" y="4605337"/>
            <a:ext cx="2667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F172A"/>
                </a:solidFill>
                <a:latin typeface="Noto Sans JP"/>
              </a:rPr>
              <a:t>ご清聴ありがとうございました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535</Words>
  <Application>Microsoft Office PowerPoint</Application>
  <PresentationFormat>ワイド画面</PresentationFormat>
  <Paragraphs>56</Paragraphs>
  <Slides>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Arial</vt:lpstr>
      <vt:lpstr>Calibri</vt:lpstr>
      <vt:lpstr>Noto Sans JP</vt:lpstr>
      <vt:lpstr>游ゴシック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3</cp:revision>
  <dcterms:created xsi:type="dcterms:W3CDTF">2013-01-27T09:14:16Z</dcterms:created>
  <dcterms:modified xsi:type="dcterms:W3CDTF">2026-09-27T01:18:54Z</dcterms:modified>
  <cp:category/>
</cp:coreProperties>
</file>