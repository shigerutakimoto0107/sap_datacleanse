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游ゴシック" panose="020B0400000000000000" pitchFamily="50" charset="-128"/>
      <p:regular r:id="rId9"/>
      <p:bold r:id="rId10"/>
    </p:embeddedFont>
    <p:embeddedFont>
      <p:font typeface="Noto Sans JP" panose="020B0200000000000000" pitchFamily="50" charset="-128"/>
      <p:regular r:id="rId11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9051F4-D3FF-473F-B50C-A2FA41B49E5C}" type="datetimeFigureOut">
              <a:rPr kumimoji="1" lang="ja-JP" altLang="en-US" smtClean="0"/>
              <a:t>2026/9/27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CB4E3C-07B0-408E-97CF-EF6563245A6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4256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ja-JP" dirty="0"/>
              <a:t>「パッと見の計算上は、パターンB（LT長・MOQ大）のほうが余剰在庫金額が少なく（1万円）見えます。 しかし、それは**『これだけ長い納期と大きなロットを許容せざるを得ない前提』に合わせ、適正ラインのハードルを勝手に引き上げているから</a:t>
            </a:r>
            <a:r>
              <a:rPr lang="ja-JP" altLang="ja-JP" b="1" dirty="0"/>
              <a:t>にすぎません。 本来目指すべきは、調達条件を改善してパターンA（LT短・MOQ小）に持ち込み、</a:t>
            </a:r>
            <a:r>
              <a:rPr lang="ja-JP" altLang="ja-JP" dirty="0"/>
              <a:t>『適正ラインそのものを低くスリム化する』こと**です」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CB4E3C-07B0-408E-97CF-EF6563245A6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3123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750" y="4580483"/>
            <a:ext cx="5715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6750" y="2239416"/>
            <a:ext cx="10953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8BDF8"/>
                </a:solidFill>
                <a:latin typeface="Noto Sans JP"/>
              </a:rPr>
              <a:t>調達部門向け・在庫評価の仕組み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50" y="2620416"/>
            <a:ext cx="11501437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sz="3900" b="1" i="0" u="none">
                <a:solidFill>
                  <a:srgbClr val="FFFFFF"/>
                </a:solidFill>
                <a:latin typeface="Noto Sans JP"/>
              </a:rPr>
              <a:t>余剰在庫金額の計算メカニズムと</a:t>
            </a:r>
            <a:r>
              <a:t>
</a:t>
            </a:r>
            <a:r>
              <a:rPr sz="3900" b="1" i="0" u="none">
                <a:solidFill>
                  <a:srgbClr val="FFFFFF"/>
                </a:solidFill>
                <a:latin typeface="Noto Sans JP"/>
              </a:rPr>
              <a:t> 適正ライン変動のカラクリ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3999458"/>
            <a:ext cx="83343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Noto Sans JP"/>
              </a:rPr>
              <a:t>在庫数が同じでも、LTやMOQの変動で「帳簿上の金額」に差が出る理由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50" y="3167062"/>
            <a:ext cx="3194893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26309" y="3167062"/>
            <a:ext cx="3194893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30505" y="3167062"/>
            <a:ext cx="3194893" cy="1666875"/>
          </a:xfrm>
          <a:prstGeom prst="roundRect">
            <a:avLst>
              <a:gd name="adj" fmla="val 685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243" y="3867150"/>
            <a:ext cx="207466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9803" y="3867150"/>
            <a:ext cx="152102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655" y="3500437"/>
            <a:ext cx="237083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214" y="3500437"/>
            <a:ext cx="237083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9410" y="3500437"/>
            <a:ext cx="237083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6750" y="476250"/>
            <a:ext cx="1152525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JP"/>
              </a:rPr>
              <a:t>そもそも「余剰在庫」とは何か？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1009650"/>
            <a:ext cx="11525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Noto Sans JP"/>
              </a:rPr>
              <a:t>現在庫が「持つべき適正な量」を超過している分を指します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099" y="3986212"/>
            <a:ext cx="336819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293B"/>
                </a:solidFill>
                <a:latin typeface="Noto Sans JP"/>
              </a:rPr>
              <a:t>現在庫数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294" y="4319587"/>
            <a:ext cx="320780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Noto Sans JP"/>
              </a:rPr>
              <a:t>今、倉庫にある実際の数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9659" y="3986212"/>
            <a:ext cx="336819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293B"/>
                </a:solidFill>
                <a:latin typeface="Noto Sans JP"/>
              </a:rPr>
              <a:t>適正在庫数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9854" y="4319587"/>
            <a:ext cx="320780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Noto Sans JP"/>
              </a:rPr>
              <a:t>持っていなければならない基準値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854" y="3986212"/>
            <a:ext cx="3368194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991B1B"/>
                </a:solidFill>
                <a:latin typeface="Noto Sans JP"/>
              </a:rPr>
              <a:t>余剰在庫（数・金額）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050" y="4319587"/>
            <a:ext cx="320780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B91C1C"/>
                </a:solidFill>
                <a:latin typeface="Noto Sans JP"/>
              </a:rPr>
              <a:t>超過分 × 単価 ＝ </a:t>
            </a:r>
            <a:r>
              <a:rPr sz="1200" b="1" i="0" u="none">
                <a:solidFill>
                  <a:srgbClr val="B91C1C"/>
                </a:solidFill>
                <a:latin typeface="Noto Sans JP"/>
              </a:rPr>
              <a:t>余剰金額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50" y="2481262"/>
            <a:ext cx="10858500" cy="885825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6750" y="3557587"/>
            <a:ext cx="10858500" cy="885825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66750" y="4633912"/>
            <a:ext cx="10858500" cy="885825"/>
          </a:xfrm>
          <a:prstGeom prst="roundRect">
            <a:avLst>
              <a:gd name="adj" fmla="val 12903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4875" y="27336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4875" y="38100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4875" y="48863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750" y="476250"/>
            <a:ext cx="1152525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JP"/>
              </a:rPr>
              <a:t>余剰在庫金額の計算ステップ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1028700"/>
            <a:ext cx="1152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Noto Sans JP"/>
              </a:rPr>
              <a:t>システム内部で行われている一連の流れ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73367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810000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886325"/>
            <a:ext cx="66675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6375" y="2681287"/>
            <a:ext cx="53006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JP"/>
              </a:rPr>
              <a:t>適正在庫ラインの算出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6375" y="2967037"/>
            <a:ext cx="5048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Noto Sans JP"/>
              </a:rPr>
              <a:t>（平均需要量 × LT）＋ 安全在庫 ＋ MOQの制約を考慮して決定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375" y="3757612"/>
            <a:ext cx="465058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Noto Sans JP"/>
              </a:rPr>
              <a:t>超過数量の抽出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6375" y="4043362"/>
            <a:ext cx="4429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Noto Sans JP"/>
              </a:rPr>
              <a:t>現在庫数 － 適正在庫数 ＝ 超過している数量（余剰数）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375" y="4833937"/>
            <a:ext cx="333791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Noto Sans JP"/>
              </a:rPr>
              <a:t>余剰在庫金額の確定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6375" y="5119687"/>
            <a:ext cx="31789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B91C1C"/>
                </a:solidFill>
                <a:latin typeface="Noto Sans JP"/>
              </a:rPr>
              <a:t>余剰在庫数 × 単価 ＝ </a:t>
            </a:r>
            <a:r>
              <a:rPr sz="1125" b="1" i="0" u="none">
                <a:solidFill>
                  <a:srgbClr val="B91C1C"/>
                </a:solidFill>
                <a:latin typeface="Noto Sans JP"/>
              </a:rPr>
              <a:t>帳簿上の余剰金額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50" y="2881312"/>
            <a:ext cx="5314950" cy="2200275"/>
          </a:xfrm>
          <a:prstGeom prst="roundRect">
            <a:avLst>
              <a:gd name="adj" fmla="val 51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881312"/>
            <a:ext cx="5314950" cy="2200275"/>
          </a:xfrm>
          <a:prstGeom prst="roundRect">
            <a:avLst>
              <a:gd name="adj" fmla="val 51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42975" y="4271962"/>
            <a:ext cx="4762500" cy="533400"/>
          </a:xfrm>
          <a:prstGeom prst="roundRect">
            <a:avLst>
              <a:gd name="adj" fmla="val 1071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86525" y="4271962"/>
            <a:ext cx="4762500" cy="533400"/>
          </a:xfrm>
          <a:prstGeom prst="roundRect">
            <a:avLst>
              <a:gd name="adj" fmla="val 1071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5" y="3224212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224212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50" y="476250"/>
            <a:ext cx="1152525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JP"/>
              </a:rPr>
              <a:t>深掘り：LTとMOQが果たす役割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1028700"/>
            <a:ext cx="11525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Noto Sans JP"/>
              </a:rPr>
              <a:t>これらは直接金額を計算するのではなく、「適正ライン」を引き上げるパラメータです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3605212"/>
            <a:ext cx="625078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Noto Sans JP"/>
              </a:rPr>
              <a:t>LT（リードタイム）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2975" y="3957637"/>
            <a:ext cx="5953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Noto Sans JP"/>
              </a:rPr>
              <a:t>発注から納品までの日数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4348162"/>
            <a:ext cx="47053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Noto Sans JP"/>
              </a:rPr>
              <a:t>LTが延びると…</a:t>
            </a:r>
            <a:r>
              <a:t>
</a:t>
            </a:r>
            <a:r>
              <a:rPr sz="1050" b="0" i="0" u="none">
                <a:solidFill>
                  <a:srgbClr val="0284C7"/>
                </a:solidFill>
                <a:latin typeface="Noto Sans JP"/>
              </a:rPr>
              <a:t> 納品待ちの間に消費される数量が増えるため、適正ラインが上昇する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605212"/>
            <a:ext cx="57054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Noto Sans JP"/>
              </a:rPr>
              <a:t>MOQ（最小発注数量）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3957637"/>
            <a:ext cx="5705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Noto Sans JP"/>
              </a:rPr>
              <a:t>最低限発注しなければならない単位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348162"/>
            <a:ext cx="47053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Noto Sans JP"/>
              </a:rPr>
              <a:t>MOQが大きいと…</a:t>
            </a:r>
            <a:r>
              <a:t>
</a:t>
            </a:r>
            <a:r>
              <a:rPr sz="1050" b="0" i="0" u="none">
                <a:solidFill>
                  <a:srgbClr val="0284C7"/>
                </a:solidFill>
                <a:latin typeface="Noto Sans JP"/>
              </a:rPr>
              <a:t> まとまったロットで買う必要があるため、適正ラインの下限を押し上げる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50" y="2974627"/>
            <a:ext cx="5200650" cy="1613445"/>
          </a:xfrm>
          <a:prstGeom prst="roundRect">
            <a:avLst>
              <a:gd name="adj" fmla="val 7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24600" y="2974627"/>
            <a:ext cx="5200650" cy="1613445"/>
          </a:xfrm>
          <a:prstGeom prst="roundRect">
            <a:avLst>
              <a:gd name="adj" fmla="val 7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3930848"/>
            <a:ext cx="4838700" cy="47625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05575" y="3930848"/>
            <a:ext cx="4838700" cy="47625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3714750"/>
            <a:ext cx="15240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50" y="476250"/>
            <a:ext cx="11525250" cy="3524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Noto Sans JP"/>
              </a:rPr>
              <a:t>シミュレーション：在庫数が同じでも金額が変わる理由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866775"/>
            <a:ext cx="115252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Noto Sans JP"/>
              </a:rPr>
              <a:t>【共通前提】1日需要: 10個 ／ 安全在庫: 20個 ／ 現在庫数: 100個 ／ 単価: 1,000円 ｜ 【計算式】適正ライン = max( (需要×LT) + 安全在庫, MOQ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155602"/>
            <a:ext cx="6048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Noto Sans JP"/>
              </a:rPr>
              <a:t>【パターンA】LTが短く、小ロット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374677"/>
            <a:ext cx="493395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1E293B"/>
                </a:solidFill>
                <a:latin typeface="Noto Sans JP"/>
              </a:rPr>
              <a:t>• </a:t>
            </a:r>
            <a:r>
              <a:rPr sz="900" b="1" i="0" u="none">
                <a:solidFill>
                  <a:srgbClr val="1E293B"/>
                </a:solidFill>
                <a:latin typeface="Noto Sans JP"/>
              </a:rPr>
              <a:t>LT: 3日</a:t>
            </a:r>
            <a:r>
              <a:rPr sz="900" b="0" i="0" u="none">
                <a:solidFill>
                  <a:srgbClr val="1E293B"/>
                </a:solidFill>
                <a:latin typeface="Noto Sans JP"/>
              </a:rPr>
              <a:t> / </a:t>
            </a:r>
            <a:r>
              <a:rPr sz="900" b="1" i="0" u="none">
                <a:solidFill>
                  <a:srgbClr val="1E293B"/>
                </a:solidFill>
                <a:latin typeface="Noto Sans JP"/>
              </a:rPr>
              <a:t>MOQ: 10個</a:t>
            </a:r>
            <a:r>
              <a:t>
</a:t>
            </a:r>
            <a:r>
              <a:rPr sz="900" b="0" i="0" u="none">
                <a:solidFill>
                  <a:srgbClr val="1E293B"/>
                </a:solidFill>
                <a:latin typeface="Noto Sans JP"/>
              </a:rPr>
              <a:t> • </a:t>
            </a:r>
            <a:r>
              <a:rPr sz="900" b="1" i="0" u="none">
                <a:solidFill>
                  <a:srgbClr val="1E293B"/>
                </a:solidFill>
                <a:latin typeface="Noto Sans JP"/>
              </a:rPr>
              <a:t>適正計算</a:t>
            </a:r>
            <a:r>
              <a:rPr sz="900" b="0" i="0" u="none">
                <a:solidFill>
                  <a:srgbClr val="1E293B"/>
                </a:solidFill>
                <a:latin typeface="Noto Sans JP"/>
              </a:rPr>
              <a:t>：max( (10×3)+20, 10 ) ＝ </a:t>
            </a:r>
            <a:r>
              <a:rPr sz="900" b="1" i="0" u="none">
                <a:solidFill>
                  <a:srgbClr val="0284C7"/>
                </a:solidFill>
                <a:latin typeface="Noto Sans JP"/>
              </a:rPr>
              <a:t>50個</a:t>
            </a:r>
            <a:r>
              <a:t>
</a:t>
            </a:r>
            <a:r>
              <a:rPr sz="900" b="0" i="0" u="none">
                <a:solidFill>
                  <a:srgbClr val="1E293B"/>
                </a:solidFill>
                <a:latin typeface="Noto Sans JP"/>
              </a:rPr>
              <a:t> • 現在庫：100個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07048"/>
            <a:ext cx="47815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91B1B"/>
                </a:solidFill>
                <a:latin typeface="Noto Sans JP"/>
              </a:rPr>
              <a:t>余剰数：100 - 50 ＝ 50個</a:t>
            </a:r>
            <a:r>
              <a:t>
</a:t>
            </a:r>
            <a:r>
              <a:rPr sz="900" b="1" i="0" u="none">
                <a:solidFill>
                  <a:srgbClr val="991B1B"/>
                </a:solidFill>
                <a:latin typeface="Noto Sans JP"/>
              </a:rPr>
              <a:t>余剰金額：50,000円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3155602"/>
            <a:ext cx="5686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Noto Sans JP"/>
              </a:rPr>
              <a:t>【パターンB】LTが長く、大ロット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3374677"/>
            <a:ext cx="493395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1E293B"/>
                </a:solidFill>
                <a:latin typeface="Noto Sans JP"/>
              </a:rPr>
              <a:t>• </a:t>
            </a:r>
            <a:r>
              <a:rPr sz="900" b="1" i="0" u="none">
                <a:solidFill>
                  <a:srgbClr val="1E293B"/>
                </a:solidFill>
                <a:latin typeface="Noto Sans JP"/>
              </a:rPr>
              <a:t>LT: 7日</a:t>
            </a:r>
            <a:r>
              <a:rPr sz="900" b="0" i="0" u="none">
                <a:solidFill>
                  <a:srgbClr val="1E293B"/>
                </a:solidFill>
                <a:latin typeface="Noto Sans JP"/>
              </a:rPr>
              <a:t> / </a:t>
            </a:r>
            <a:r>
              <a:rPr sz="900" b="1" i="0" u="none">
                <a:solidFill>
                  <a:srgbClr val="1E293B"/>
                </a:solidFill>
                <a:latin typeface="Noto Sans JP"/>
              </a:rPr>
              <a:t>MOQ: 60個</a:t>
            </a:r>
            <a:r>
              <a:t>
</a:t>
            </a:r>
            <a:r>
              <a:rPr sz="900" b="0" i="0" u="none">
                <a:solidFill>
                  <a:srgbClr val="1E293B"/>
                </a:solidFill>
                <a:latin typeface="Noto Sans JP"/>
              </a:rPr>
              <a:t> • </a:t>
            </a:r>
            <a:r>
              <a:rPr sz="900" b="1" i="0" u="none">
                <a:solidFill>
                  <a:srgbClr val="1E293B"/>
                </a:solidFill>
                <a:latin typeface="Noto Sans JP"/>
              </a:rPr>
              <a:t>適正計算</a:t>
            </a:r>
            <a:r>
              <a:rPr sz="900" b="0" i="0" u="none">
                <a:solidFill>
                  <a:srgbClr val="1E293B"/>
                </a:solidFill>
                <a:latin typeface="Noto Sans JP"/>
              </a:rPr>
              <a:t>：max( (10×7)+20, 60 ) ＝ </a:t>
            </a:r>
            <a:r>
              <a:rPr sz="900" b="1" i="0" u="none">
                <a:solidFill>
                  <a:srgbClr val="16A34A"/>
                </a:solidFill>
                <a:latin typeface="Noto Sans JP"/>
              </a:rPr>
              <a:t>90個</a:t>
            </a:r>
            <a:r>
              <a:t>
</a:t>
            </a:r>
            <a:r>
              <a:rPr sz="900" b="0" i="0" u="none">
                <a:solidFill>
                  <a:srgbClr val="1E293B"/>
                </a:solidFill>
                <a:latin typeface="Noto Sans JP"/>
              </a:rPr>
              <a:t> • 現在庫：100個（</a:t>
            </a:r>
            <a:r>
              <a:rPr sz="900" b="1" i="0" u="none">
                <a:solidFill>
                  <a:srgbClr val="1E293B"/>
                </a:solidFill>
                <a:latin typeface="Noto Sans JP"/>
              </a:rPr>
              <a:t>在庫数は同じ！</a:t>
            </a:r>
            <a:r>
              <a:rPr sz="900" b="0" i="0" u="none">
                <a:solidFill>
                  <a:srgbClr val="1E293B"/>
                </a:solidFill>
                <a:latin typeface="Noto Sans JP"/>
              </a:rPr>
              <a:t>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4007048"/>
            <a:ext cx="47815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166534"/>
                </a:solidFill>
                <a:latin typeface="Noto Sans JP"/>
              </a:rPr>
              <a:t>余剰数：100 - 90 ＝ 10個</a:t>
            </a:r>
            <a:r>
              <a:t>
</a:t>
            </a:r>
            <a:r>
              <a:rPr sz="900" b="1" i="0" u="none">
                <a:solidFill>
                  <a:srgbClr val="166534"/>
                </a:solidFill>
                <a:latin typeface="Noto Sans JP"/>
              </a:rPr>
              <a:t>余剰金額：10,000円（金額が激減！）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150" y="2090737"/>
            <a:ext cx="355699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0911" y="2767012"/>
            <a:ext cx="1410176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0F172A"/>
                </a:solidFill>
                <a:latin typeface="Noto Sans JP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3386137"/>
            <a:ext cx="80962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Noto Sans JP"/>
              </a:rPr>
              <a:t>倉庫にある実物の在庫数が同じ（100個）であっても、</a:t>
            </a:r>
            <a:r>
              <a:t>
</a:t>
            </a:r>
            <a:r>
              <a:rPr sz="1500" b="1" i="0" u="none">
                <a:solidFill>
                  <a:srgbClr val="475569"/>
                </a:solidFill>
                <a:latin typeface="Noto Sans JP"/>
              </a:rPr>
              <a:t>LTやMOQが変わることで「適正ライン」が変動し、</a:t>
            </a:r>
            <a:r>
              <a:t>
</a:t>
            </a:r>
            <a:r>
              <a:rPr sz="1500" b="1" i="0" u="none">
                <a:solidFill>
                  <a:srgbClr val="475569"/>
                </a:solidFill>
                <a:latin typeface="Noto Sans JP"/>
              </a:rPr>
              <a:t> 結果として帳簿上の余剰在庫金額に大きな差が出る</a:t>
            </a:r>
            <a:r>
              <a:rPr sz="1500" b="0" i="0" u="none">
                <a:solidFill>
                  <a:srgbClr val="475569"/>
                </a:solidFill>
                <a:latin typeface="Noto Sans JP"/>
              </a:rPr>
              <a:t>仕組みになっています。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62500" y="4605337"/>
            <a:ext cx="2667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0F172A"/>
                </a:solidFill>
                <a:latin typeface="Noto Sans JP"/>
              </a:rP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398</Words>
  <Application>Microsoft Office PowerPoint</Application>
  <PresentationFormat>ワイド画面</PresentationFormat>
  <Paragraphs>43</Paragraphs>
  <Slides>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Noto Sans JP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2</cp:revision>
  <dcterms:created xsi:type="dcterms:W3CDTF">2013-01-27T09:14:16Z</dcterms:created>
  <dcterms:modified xsi:type="dcterms:W3CDTF">2026-09-26T22:54:54Z</dcterms:modified>
  <cp:category/>
</cp:coreProperties>
</file>